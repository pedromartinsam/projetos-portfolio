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78" r:id="rId3"/>
    <p:sldId id="294" r:id="rId4"/>
    <p:sldId id="287" r:id="rId5"/>
    <p:sldId id="289" r:id="rId6"/>
    <p:sldId id="288" r:id="rId7"/>
    <p:sldId id="290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746"/>
    <a:srgbClr val="FFC000"/>
    <a:srgbClr val="EEB500"/>
    <a:srgbClr val="EAB200"/>
    <a:srgbClr val="85AEFF"/>
    <a:srgbClr val="002A7E"/>
    <a:srgbClr val="002060"/>
    <a:srgbClr val="A9D18E"/>
    <a:srgbClr val="00359E"/>
    <a:srgbClr val="0404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92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3F3D2-63A5-48AA-BA1A-E92A30A8F56B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1B41A-3347-4392-9D5C-B52141BF6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72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48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50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85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08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25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97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73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7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8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336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683BF-5146-4529-A0D3-BC1077F51968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0D030-D7E2-46DF-89B5-F9C2519DD2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8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396343" y="228437"/>
            <a:ext cx="379669" cy="35309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67882" y="162428"/>
            <a:ext cx="9900421" cy="33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0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67" b="0" i="0" u="none" strike="noStrike" kern="1200" cap="none" spc="3295" normalizeH="0" baseline="0" noProof="0" dirty="0">
                <a:ln>
                  <a:noFill/>
                </a:ln>
                <a:solidFill>
                  <a:srgbClr val="FFCE20">
                    <a:alpha val="29804"/>
                  </a:srgbClr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POWER BI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7882" y="2557476"/>
            <a:ext cx="9900421" cy="33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0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267" b="0" i="0" u="none" strike="noStrike" kern="1200" cap="none" spc="3295" normalizeH="0" baseline="0" noProof="0" dirty="0">
                <a:ln>
                  <a:noFill/>
                </a:ln>
                <a:solidFill>
                  <a:srgbClr val="FFCE20">
                    <a:alpha val="24706"/>
                  </a:srgbClr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POWER BI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06236" y="2881326"/>
            <a:ext cx="12298236" cy="763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6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87" b="0" i="0" u="none" strike="noStrike" kern="1200" cap="none" spc="70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687" b="0" i="0" u="none" strike="noStrike" kern="1200" cap="none" spc="7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687" b="0" i="0" u="none" strike="noStrike" kern="1200" cap="none" spc="70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687" b="0" i="0" u="none" strike="noStrike" kern="1200" cap="none" spc="7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687" b="0" i="0" u="none" strike="noStrike" kern="1200" cap="none" spc="70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r>
              <a:rPr kumimoji="0" lang="en-US" sz="4687" b="0" i="0" u="none" strike="noStrike" kern="1200" cap="none" spc="7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(X)</a:t>
            </a:r>
          </a:p>
        </p:txBody>
      </p:sp>
      <p:sp>
        <p:nvSpPr>
          <p:cNvPr id="10" name="AutoShape 10"/>
          <p:cNvSpPr/>
          <p:nvPr/>
        </p:nvSpPr>
        <p:spPr>
          <a:xfrm rot="-10800000">
            <a:off x="11194417" y="1"/>
            <a:ext cx="743339" cy="93542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52A1751-65B3-4D64-B8C7-721DC0399C4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7" name="TextBox 100">
              <a:extLst>
                <a:ext uri="{FF2B5EF4-FFF2-40B4-BE49-F238E27FC236}">
                  <a16:creationId xmlns:a16="http://schemas.microsoft.com/office/drawing/2014/main" id="{9B9AE381-CA2C-437E-B1CD-C9C2B7337118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96B2653E-A7BA-4374-B09C-EF7248D8A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" name="Conector: Curvo 1">
            <a:extLst>
              <a:ext uri="{FF2B5EF4-FFF2-40B4-BE49-F238E27FC236}">
                <a16:creationId xmlns:a16="http://schemas.microsoft.com/office/drawing/2014/main" id="{0C406C8D-FA88-4DF1-9E3E-F138B616BC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37103" y="610539"/>
            <a:ext cx="769125" cy="3956111"/>
          </a:xfrm>
          <a:prstGeom prst="curved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91A20D-50FE-5975-A3C5-F9D9D5A485FB}"/>
              </a:ext>
            </a:extLst>
          </p:cNvPr>
          <p:cNvSpPr txBox="1"/>
          <p:nvPr/>
        </p:nvSpPr>
        <p:spPr>
          <a:xfrm>
            <a:off x="2358501" y="3065332"/>
            <a:ext cx="72800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Permitem fazer cálculos (SOMA, MÉDIA, MÁXIMO, MÍNIMO) sem precisar ter a coluna na tabela pra fazer essa conta.</a:t>
            </a:r>
          </a:p>
          <a:p>
            <a:endParaRPr lang="pt-BR" sz="1600" dirty="0">
              <a:solidFill>
                <a:srgbClr val="001746"/>
              </a:solidFill>
              <a:latin typeface="Play" panose="020B0000000000000000" pitchFamily="34" charset="0"/>
            </a:endParaRPr>
          </a:p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Então a gente consegue fazer uma soma sem ter uma coluna pra somar, fazer uma média sem ter uma coluna pra calcular a média, etc.</a:t>
            </a:r>
          </a:p>
          <a:p>
            <a:endParaRPr lang="pt-BR" sz="1600" dirty="0">
              <a:solidFill>
                <a:srgbClr val="001746"/>
              </a:solidFill>
              <a:latin typeface="Play" panose="020B0000000000000000" pitchFamily="34" charset="0"/>
            </a:endParaRPr>
          </a:p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Isso porque tudo vai ser feito direto dentro de medidas.</a:t>
            </a:r>
          </a:p>
        </p:txBody>
      </p:sp>
    </p:spTree>
    <p:extLst>
      <p:ext uri="{BB962C8B-B14F-4D97-AF65-F5344CB8AC3E}">
        <p14:creationId xmlns:p14="http://schemas.microsoft.com/office/powerpoint/2010/main" val="196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DA64A98-DFAC-35F6-E210-D9E6275A025E}"/>
              </a:ext>
            </a:extLst>
          </p:cNvPr>
          <p:cNvSpPr txBox="1"/>
          <p:nvPr/>
        </p:nvSpPr>
        <p:spPr>
          <a:xfrm>
            <a:off x="671509" y="2227332"/>
            <a:ext cx="6288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SUMX</a:t>
            </a:r>
          </a:p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AVERAGEX</a:t>
            </a:r>
          </a:p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MAXX</a:t>
            </a:r>
          </a:p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MINX</a:t>
            </a:r>
          </a:p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COUNTX</a:t>
            </a:r>
          </a:p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RANKX</a:t>
            </a:r>
          </a:p>
          <a:p>
            <a:endParaRPr lang="pt-BR" sz="2400" dirty="0">
              <a:solidFill>
                <a:srgbClr val="001746"/>
              </a:solidFill>
              <a:latin typeface="Play" panose="020B0000000000000000" pitchFamily="3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889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DA64A98-DFAC-35F6-E210-D9E6275A025E}"/>
              </a:ext>
            </a:extLst>
          </p:cNvPr>
          <p:cNvSpPr txBox="1"/>
          <p:nvPr/>
        </p:nvSpPr>
        <p:spPr>
          <a:xfrm>
            <a:off x="1406234" y="2227332"/>
            <a:ext cx="758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SUMX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</a:t>
            </a:r>
            <a:r>
              <a:rPr lang="pt-BR" sz="2400" dirty="0">
                <a:solidFill>
                  <a:srgbClr val="002A7E"/>
                </a:solidFill>
                <a:latin typeface="Play" panose="020B0000000000000000" pitchFamily="34" charset="0"/>
              </a:rPr>
              <a:t>Tabela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Expressão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F9325E-5D13-30A3-F5D2-36844DD444CF}"/>
              </a:ext>
            </a:extLst>
          </p:cNvPr>
          <p:cNvSpPr txBox="1"/>
          <p:nvPr/>
        </p:nvSpPr>
        <p:spPr>
          <a:xfrm>
            <a:off x="238943" y="3396567"/>
            <a:ext cx="370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Agregação a ser aplicada </a:t>
            </a:r>
          </a:p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nas linhas calculadas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24F1D0-4634-83B9-950F-6B6CAA02561E}"/>
              </a:ext>
            </a:extLst>
          </p:cNvPr>
          <p:cNvSpPr txBox="1"/>
          <p:nvPr/>
        </p:nvSpPr>
        <p:spPr>
          <a:xfrm>
            <a:off x="292888" y="4130230"/>
            <a:ext cx="1647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Exemplos: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SUMX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COUNTX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AVERAGEX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MAXX/MINX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RANKX</a:t>
            </a:r>
          </a:p>
        </p:txBody>
      </p:sp>
      <p:cxnSp>
        <p:nvCxnSpPr>
          <p:cNvPr id="15" name="Conector: Curvo 14">
            <a:extLst>
              <a:ext uri="{FF2B5EF4-FFF2-40B4-BE49-F238E27FC236}">
                <a16:creationId xmlns:a16="http://schemas.microsoft.com/office/drawing/2014/main" id="{596ED9A4-00EE-D299-A51B-DD0A8F16B879}"/>
              </a:ext>
            </a:extLst>
          </p:cNvPr>
          <p:cNvCxnSpPr>
            <a:cxnSpLocks/>
          </p:cNvCxnSpPr>
          <p:nvPr/>
        </p:nvCxnSpPr>
        <p:spPr>
          <a:xfrm rot="5400000">
            <a:off x="1327988" y="2750164"/>
            <a:ext cx="633980" cy="553788"/>
          </a:xfrm>
          <a:prstGeom prst="curved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52C766E-725E-2D1C-5C85-CDC377144C4F}"/>
              </a:ext>
            </a:extLst>
          </p:cNvPr>
          <p:cNvCxnSpPr>
            <a:cxnSpLocks/>
          </p:cNvCxnSpPr>
          <p:nvPr/>
        </p:nvCxnSpPr>
        <p:spPr>
          <a:xfrm>
            <a:off x="2693085" y="3285803"/>
            <a:ext cx="0" cy="2321755"/>
          </a:xfrm>
          <a:prstGeom prst="line">
            <a:avLst/>
          </a:prstGeom>
          <a:ln w="19050">
            <a:solidFill>
              <a:srgbClr val="001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0F3D92B-BCD5-828D-591D-26D8C284442E}"/>
              </a:ext>
            </a:extLst>
          </p:cNvPr>
          <p:cNvCxnSpPr>
            <a:cxnSpLocks/>
          </p:cNvCxnSpPr>
          <p:nvPr/>
        </p:nvCxnSpPr>
        <p:spPr>
          <a:xfrm>
            <a:off x="3370217" y="2627441"/>
            <a:ext cx="209562" cy="71660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585BA42-6B1C-AFA7-E2DF-03362E21AD77}"/>
              </a:ext>
            </a:extLst>
          </p:cNvPr>
          <p:cNvSpPr txBox="1"/>
          <p:nvPr/>
        </p:nvSpPr>
        <p:spPr>
          <a:xfrm>
            <a:off x="2936424" y="3396567"/>
            <a:ext cx="3702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Tabela onde será feito o cálculo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4E4301D-AAB6-2806-9ECC-9B47F4BCD8A9}"/>
              </a:ext>
            </a:extLst>
          </p:cNvPr>
          <p:cNvSpPr txBox="1"/>
          <p:nvPr/>
        </p:nvSpPr>
        <p:spPr>
          <a:xfrm>
            <a:off x="3102708" y="4130230"/>
            <a:ext cx="35365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Exemplos: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‘</a:t>
            </a:r>
            <a:r>
              <a:rPr lang="pt-BR" sz="1500" dirty="0" err="1">
                <a:solidFill>
                  <a:srgbClr val="001746"/>
                </a:solidFill>
                <a:latin typeface="Play" panose="020B0000000000000000" pitchFamily="34" charset="0"/>
              </a:rPr>
              <a:t>fVendas</a:t>
            </a:r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’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‘</a:t>
            </a:r>
            <a:r>
              <a:rPr lang="pt-BR" sz="1500" dirty="0" err="1">
                <a:solidFill>
                  <a:srgbClr val="001746"/>
                </a:solidFill>
                <a:latin typeface="Play" panose="020B0000000000000000" pitchFamily="34" charset="0"/>
              </a:rPr>
              <a:t>fDevoluções</a:t>
            </a:r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’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Geralmente se usa uma tabela fato, porque contêm informações para realizar cálculos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636C489-6ED3-7CA7-796E-F347428D2D41}"/>
              </a:ext>
            </a:extLst>
          </p:cNvPr>
          <p:cNvCxnSpPr>
            <a:cxnSpLocks/>
          </p:cNvCxnSpPr>
          <p:nvPr/>
        </p:nvCxnSpPr>
        <p:spPr>
          <a:xfrm>
            <a:off x="6940045" y="3344048"/>
            <a:ext cx="0" cy="2263510"/>
          </a:xfrm>
          <a:prstGeom prst="line">
            <a:avLst/>
          </a:prstGeom>
          <a:ln w="19050">
            <a:solidFill>
              <a:srgbClr val="001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F6C729C-7560-FD66-35E6-EF1DB034CAF5}"/>
              </a:ext>
            </a:extLst>
          </p:cNvPr>
          <p:cNvSpPr txBox="1"/>
          <p:nvPr/>
        </p:nvSpPr>
        <p:spPr>
          <a:xfrm>
            <a:off x="7296132" y="3396567"/>
            <a:ext cx="370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Expressão a ser calculada para </a:t>
            </a:r>
          </a:p>
          <a:p>
            <a:r>
              <a:rPr lang="pt-BR" sz="1600" dirty="0">
                <a:solidFill>
                  <a:srgbClr val="001746"/>
                </a:solidFill>
                <a:latin typeface="Play" panose="020B0000000000000000" pitchFamily="34" charset="0"/>
              </a:rPr>
              <a:t>cada linha da tabela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25B649E-759D-61F7-C529-1883C5BD2119}"/>
              </a:ext>
            </a:extLst>
          </p:cNvPr>
          <p:cNvSpPr txBox="1"/>
          <p:nvPr/>
        </p:nvSpPr>
        <p:spPr>
          <a:xfrm>
            <a:off x="7462416" y="4130230"/>
            <a:ext cx="47980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Exemplos: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[Total Vendas]</a:t>
            </a:r>
          </a:p>
          <a:p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-&gt; </a:t>
            </a:r>
            <a:r>
              <a:rPr lang="pt-BR" sz="1500" dirty="0" err="1">
                <a:solidFill>
                  <a:srgbClr val="001746"/>
                </a:solidFill>
                <a:latin typeface="Play" panose="020B0000000000000000" pitchFamily="34" charset="0"/>
              </a:rPr>
              <a:t>fVendas</a:t>
            </a:r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 [</a:t>
            </a:r>
            <a:r>
              <a:rPr lang="pt-BR" sz="1500" dirty="0" err="1">
                <a:solidFill>
                  <a:srgbClr val="001746"/>
                </a:solidFill>
                <a:latin typeface="Play" panose="020B0000000000000000" pitchFamily="34" charset="0"/>
              </a:rPr>
              <a:t>Qtd</a:t>
            </a:r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 Vendida] * </a:t>
            </a:r>
            <a:r>
              <a:rPr lang="pt-BR" sz="1500" dirty="0" err="1">
                <a:solidFill>
                  <a:srgbClr val="001746"/>
                </a:solidFill>
                <a:latin typeface="Play" panose="020B0000000000000000" pitchFamily="34" charset="0"/>
              </a:rPr>
              <a:t>fVendas</a:t>
            </a:r>
            <a:r>
              <a:rPr lang="pt-BR" sz="1500" dirty="0">
                <a:solidFill>
                  <a:srgbClr val="001746"/>
                </a:solidFill>
                <a:latin typeface="Play" panose="020B0000000000000000" pitchFamily="34" charset="0"/>
              </a:rPr>
              <a:t> [Preço Unitário]</a:t>
            </a:r>
          </a:p>
        </p:txBody>
      </p:sp>
      <p:cxnSp>
        <p:nvCxnSpPr>
          <p:cNvPr id="20" name="Conector: Curvo 19">
            <a:extLst>
              <a:ext uri="{FF2B5EF4-FFF2-40B4-BE49-F238E27FC236}">
                <a16:creationId xmlns:a16="http://schemas.microsoft.com/office/drawing/2014/main" id="{F894649C-B87C-1047-61B5-99BF257750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0221" y="1033947"/>
            <a:ext cx="769125" cy="3956111"/>
          </a:xfrm>
          <a:prstGeom prst="curved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2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1" grpId="0"/>
      <p:bldP spid="22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758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SUMX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</a:t>
            </a:r>
            <a:r>
              <a:rPr lang="pt-BR" sz="2400" dirty="0">
                <a:solidFill>
                  <a:srgbClr val="002A7E"/>
                </a:solidFill>
                <a:latin typeface="Play" panose="020B0000000000000000" pitchFamily="34" charset="0"/>
              </a:rPr>
              <a:t>Tabela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Expressão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EF6C5D5-37EF-EE50-7D98-316B20320B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489"/>
          <a:stretch/>
        </p:blipFill>
        <p:spPr>
          <a:xfrm>
            <a:off x="2005772" y="2952677"/>
            <a:ext cx="5654662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5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758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SUMX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 </a:t>
            </a:r>
            <a:r>
              <a:rPr lang="pt-BR" sz="2400" dirty="0" err="1">
                <a:solidFill>
                  <a:srgbClr val="002A7E"/>
                </a:solidFill>
                <a:latin typeface="Play" panose="020B0000000000000000" pitchFamily="34" charset="0"/>
              </a:rPr>
              <a:t>fVendas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[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Qtd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 Vendida] * [Preço Unitário] 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B64C22D-E5C0-39DF-AAD2-6FD0A159B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771" y="2952677"/>
            <a:ext cx="7023461" cy="282589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59BA72-E603-7A68-5117-7E491FD85C30}"/>
              </a:ext>
            </a:extLst>
          </p:cNvPr>
          <p:cNvSpPr txBox="1"/>
          <p:nvPr/>
        </p:nvSpPr>
        <p:spPr>
          <a:xfrm>
            <a:off x="8586121" y="5870792"/>
            <a:ext cx="99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C000"/>
                </a:solidFill>
                <a:latin typeface="Play" panose="020B0000000000000000" pitchFamily="34" charset="0"/>
              </a:rPr>
              <a:t>SOMA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Play" panose="020B0000000000000000" pitchFamily="34" charset="0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39F8CA87-26E0-0381-849F-46619244B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262" y="6399136"/>
            <a:ext cx="1066855" cy="317516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CA207C92-D020-206F-AE9F-B0DCD3C93571}"/>
              </a:ext>
            </a:extLst>
          </p:cNvPr>
          <p:cNvSpPr/>
          <p:nvPr/>
        </p:nvSpPr>
        <p:spPr>
          <a:xfrm>
            <a:off x="7830821" y="6386905"/>
            <a:ext cx="1122209" cy="359335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9F81BADB-43A6-1FF1-5447-C662FB356FA5}"/>
              </a:ext>
            </a:extLst>
          </p:cNvPr>
          <p:cNvCxnSpPr>
            <a:cxnSpLocks/>
          </p:cNvCxnSpPr>
          <p:nvPr/>
        </p:nvCxnSpPr>
        <p:spPr>
          <a:xfrm>
            <a:off x="8373661" y="5789390"/>
            <a:ext cx="0" cy="5732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C61F93DF-4E86-6225-EB72-1EDEC9079041}"/>
              </a:ext>
            </a:extLst>
          </p:cNvPr>
          <p:cNvSpPr/>
          <p:nvPr/>
        </p:nvSpPr>
        <p:spPr>
          <a:xfrm>
            <a:off x="7629418" y="3265715"/>
            <a:ext cx="1409610" cy="2512858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3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758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COUNTX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 </a:t>
            </a:r>
            <a:r>
              <a:rPr lang="pt-BR" sz="2400" dirty="0" err="1">
                <a:solidFill>
                  <a:srgbClr val="002A7E"/>
                </a:solidFill>
                <a:latin typeface="Play" panose="020B0000000000000000" pitchFamily="34" charset="0"/>
              </a:rPr>
              <a:t>fVendas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[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Qtd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 Vendida] * [Preço Unitário] 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B64C22D-E5C0-39DF-AAD2-6FD0A159B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771" y="2952677"/>
            <a:ext cx="7023461" cy="2825895"/>
          </a:xfrm>
          <a:prstGeom prst="rect">
            <a:avLst/>
          </a:prstGeom>
        </p:spPr>
      </p:pic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84A2B4D4-A380-8258-9890-EAA4FFC9421D}"/>
              </a:ext>
            </a:extLst>
          </p:cNvPr>
          <p:cNvCxnSpPr>
            <a:cxnSpLocks/>
          </p:cNvCxnSpPr>
          <p:nvPr/>
        </p:nvCxnSpPr>
        <p:spPr>
          <a:xfrm>
            <a:off x="8373661" y="5789390"/>
            <a:ext cx="0" cy="5732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59BA72-E603-7A68-5117-7E491FD85C30}"/>
              </a:ext>
            </a:extLst>
          </p:cNvPr>
          <p:cNvSpPr txBox="1"/>
          <p:nvPr/>
        </p:nvSpPr>
        <p:spPr>
          <a:xfrm>
            <a:off x="8586121" y="5870792"/>
            <a:ext cx="172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C000"/>
                </a:solidFill>
                <a:latin typeface="Play" panose="020B0000000000000000" pitchFamily="34" charset="0"/>
              </a:rPr>
              <a:t>CONTAGEM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Play" panose="020B0000000000000000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C7EBA8-1828-86B5-8596-8CB3619AA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315" y="6376062"/>
            <a:ext cx="1155759" cy="381020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CA207C92-D020-206F-AE9F-B0DCD3C93571}"/>
              </a:ext>
            </a:extLst>
          </p:cNvPr>
          <p:cNvSpPr/>
          <p:nvPr/>
        </p:nvSpPr>
        <p:spPr>
          <a:xfrm>
            <a:off x="7832091" y="6386905"/>
            <a:ext cx="1122209" cy="359335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A741D28-4D1A-AC96-7627-926A5A15D1D8}"/>
              </a:ext>
            </a:extLst>
          </p:cNvPr>
          <p:cNvSpPr/>
          <p:nvPr/>
        </p:nvSpPr>
        <p:spPr>
          <a:xfrm>
            <a:off x="7629418" y="3265715"/>
            <a:ext cx="1409610" cy="2512858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12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8334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AVERAGEX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 </a:t>
            </a:r>
            <a:r>
              <a:rPr lang="pt-BR" sz="2400" dirty="0" err="1">
                <a:solidFill>
                  <a:srgbClr val="002A7E"/>
                </a:solidFill>
                <a:latin typeface="Play" panose="020B0000000000000000" pitchFamily="34" charset="0"/>
              </a:rPr>
              <a:t>fVendas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[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Qtd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 Vendida] * [Preço Unitário] 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B64C22D-E5C0-39DF-AAD2-6FD0A159B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771" y="2952677"/>
            <a:ext cx="7023461" cy="282589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59BA72-E603-7A68-5117-7E491FD85C30}"/>
              </a:ext>
            </a:extLst>
          </p:cNvPr>
          <p:cNvSpPr txBox="1"/>
          <p:nvPr/>
        </p:nvSpPr>
        <p:spPr>
          <a:xfrm>
            <a:off x="8586121" y="5870792"/>
            <a:ext cx="172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C000"/>
                </a:solidFill>
                <a:latin typeface="Play" panose="020B0000000000000000" pitchFamily="34" charset="0"/>
              </a:rPr>
              <a:t>MÉDIA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Play" panose="020B0000000000000000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A22716A-3563-ADC6-3A4F-D8CAF9FA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57" y="6409348"/>
            <a:ext cx="1371670" cy="336567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CA207C92-D020-206F-AE9F-B0DCD3C93571}"/>
              </a:ext>
            </a:extLst>
          </p:cNvPr>
          <p:cNvSpPr/>
          <p:nvPr/>
        </p:nvSpPr>
        <p:spPr>
          <a:xfrm>
            <a:off x="7677153" y="6386905"/>
            <a:ext cx="1352078" cy="359335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6ABBE1B-08B8-6B2D-C822-59B3ADE8521A}"/>
              </a:ext>
            </a:extLst>
          </p:cNvPr>
          <p:cNvCxnSpPr>
            <a:cxnSpLocks/>
          </p:cNvCxnSpPr>
          <p:nvPr/>
        </p:nvCxnSpPr>
        <p:spPr>
          <a:xfrm>
            <a:off x="8373661" y="5789390"/>
            <a:ext cx="0" cy="5732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62D6C0BA-D6F9-A4D1-5C7F-351C576BF11D}"/>
              </a:ext>
            </a:extLst>
          </p:cNvPr>
          <p:cNvSpPr/>
          <p:nvPr/>
        </p:nvSpPr>
        <p:spPr>
          <a:xfrm>
            <a:off x="7629418" y="3265715"/>
            <a:ext cx="1409610" cy="2512858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47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8334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MAXX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 </a:t>
            </a:r>
            <a:r>
              <a:rPr lang="pt-BR" sz="2400" dirty="0" err="1">
                <a:solidFill>
                  <a:srgbClr val="002A7E"/>
                </a:solidFill>
                <a:latin typeface="Play" panose="020B0000000000000000" pitchFamily="34" charset="0"/>
              </a:rPr>
              <a:t>fVendas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[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Qtd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 Vendida] * [Preço Unitário] 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B64C22D-E5C0-39DF-AAD2-6FD0A159B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771" y="2952677"/>
            <a:ext cx="7023461" cy="282589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59BA72-E603-7A68-5117-7E491FD85C30}"/>
              </a:ext>
            </a:extLst>
          </p:cNvPr>
          <p:cNvSpPr txBox="1"/>
          <p:nvPr/>
        </p:nvSpPr>
        <p:spPr>
          <a:xfrm>
            <a:off x="8586121" y="5870792"/>
            <a:ext cx="172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C000"/>
                </a:solidFill>
                <a:latin typeface="Play" panose="020B0000000000000000" pitchFamily="34" charset="0"/>
              </a:rPr>
              <a:t>MÁXIMO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Play" panose="020B0000000000000000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76A785-1D70-BFBA-1363-0E5365CD3C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344" b="8393"/>
          <a:stretch/>
        </p:blipFill>
        <p:spPr>
          <a:xfrm>
            <a:off x="7664181" y="6382371"/>
            <a:ext cx="1378021" cy="363869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CA207C92-D020-206F-AE9F-B0DCD3C93571}"/>
              </a:ext>
            </a:extLst>
          </p:cNvPr>
          <p:cNvSpPr/>
          <p:nvPr/>
        </p:nvSpPr>
        <p:spPr>
          <a:xfrm>
            <a:off x="7677153" y="6386905"/>
            <a:ext cx="1352078" cy="359335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9945E70C-28D0-A874-FCB4-C0808FB22D0C}"/>
              </a:ext>
            </a:extLst>
          </p:cNvPr>
          <p:cNvCxnSpPr>
            <a:cxnSpLocks/>
          </p:cNvCxnSpPr>
          <p:nvPr/>
        </p:nvCxnSpPr>
        <p:spPr>
          <a:xfrm>
            <a:off x="8373661" y="5789390"/>
            <a:ext cx="0" cy="5732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62D6C0BA-D6F9-A4D1-5C7F-351C576BF11D}"/>
              </a:ext>
            </a:extLst>
          </p:cNvPr>
          <p:cNvSpPr/>
          <p:nvPr/>
        </p:nvSpPr>
        <p:spPr>
          <a:xfrm>
            <a:off x="7629418" y="3265715"/>
            <a:ext cx="1409610" cy="2512858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45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9716E72-85DB-92E3-F439-B0E36432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DECF05F2-7B9D-69D4-5BB1-607C9F6275C6}"/>
              </a:ext>
            </a:extLst>
          </p:cNvPr>
          <p:cNvSpPr/>
          <p:nvPr/>
        </p:nvSpPr>
        <p:spPr>
          <a:xfrm>
            <a:off x="0" y="198121"/>
            <a:ext cx="12192000" cy="737303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5C0F61-6CA2-41B2-CED8-0C886D2CE174}"/>
              </a:ext>
            </a:extLst>
          </p:cNvPr>
          <p:cNvSpPr txBox="1"/>
          <p:nvPr/>
        </p:nvSpPr>
        <p:spPr>
          <a:xfrm>
            <a:off x="595764" y="280368"/>
            <a:ext cx="10209717" cy="602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Fórmulas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DAX –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Funções</a:t>
            </a:r>
            <a:r>
              <a:rPr kumimoji="0" lang="en-US" sz="4166" b="0" i="0" u="none" strike="noStrike" kern="1200" cap="none" spc="0" normalizeH="0" baseline="0" noProof="0" dirty="0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 </a:t>
            </a:r>
            <a:r>
              <a:rPr kumimoji="0" lang="en-US" sz="4166" b="0" i="0" u="none" strike="noStrike" kern="1200" cap="none" spc="0" normalizeH="0" baseline="0" noProof="0" dirty="0" err="1">
                <a:ln>
                  <a:noFill/>
                </a:ln>
                <a:solidFill>
                  <a:srgbClr val="FFC331"/>
                </a:solidFill>
                <a:effectLst/>
                <a:uLnTx/>
                <a:uFillTx/>
                <a:latin typeface="Big Shoulders Display Bold"/>
                <a:ea typeface="+mn-ea"/>
                <a:cs typeface="+mn-cs"/>
              </a:rPr>
              <a:t>Iteradoras</a:t>
            </a:r>
            <a:endParaRPr kumimoji="0" lang="en-US" sz="4166" b="0" i="0" u="none" strike="noStrike" kern="1200" cap="none" spc="0" normalizeH="0" baseline="0" noProof="0" dirty="0">
              <a:ln>
                <a:noFill/>
              </a:ln>
              <a:solidFill>
                <a:srgbClr val="FFC331"/>
              </a:solidFill>
              <a:effectLst/>
              <a:uLnTx/>
              <a:uFillTx/>
              <a:latin typeface="Big Shoulders Display Bold"/>
              <a:ea typeface="+mn-ea"/>
              <a:cs typeface="+mn-cs"/>
            </a:endParaRP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D66DF12-F9B9-F4A4-76BA-BC84CF4C8104}"/>
              </a:ext>
            </a:extLst>
          </p:cNvPr>
          <p:cNvGrpSpPr/>
          <p:nvPr/>
        </p:nvGrpSpPr>
        <p:grpSpPr>
          <a:xfrm>
            <a:off x="11194417" y="1"/>
            <a:ext cx="743339" cy="935423"/>
            <a:chOff x="0" y="0"/>
            <a:chExt cx="1486678" cy="1870846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BCF312A-BB57-EA98-2970-FBABEBBC3C50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14155A47-77E1-2485-6228-F986751C7D75}"/>
                </a:ext>
              </a:extLst>
            </p:cNvPr>
            <p:cNvSpPr txBox="1"/>
            <p:nvPr/>
          </p:nvSpPr>
          <p:spPr>
            <a:xfrm rot="10800000">
              <a:off x="149898" y="134214"/>
              <a:ext cx="1186882" cy="1692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ts val="325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55" b="0" i="0" u="none" strike="noStrike" kern="1200" cap="none" spc="0" normalizeH="0" baseline="0" noProof="0">
                  <a:ln>
                    <a:noFill/>
                  </a:ln>
                  <a:solidFill>
                    <a:srgbClr val="072D4D">
                      <a:alpha val="19608"/>
                    </a:srgbClr>
                  </a:solidFill>
                  <a:effectLst/>
                  <a:uLnTx/>
                  <a:uFillTx/>
                  <a:latin typeface="Big Shoulders Display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7C62F06B-3BEC-8332-5D52-243538690029}"/>
                </a:ext>
              </a:extLst>
            </p:cNvPr>
            <p:cNvSpPr/>
            <p:nvPr/>
          </p:nvSpPr>
          <p:spPr>
            <a:xfrm rot="-10800000">
              <a:off x="0" y="0"/>
              <a:ext cx="1486678" cy="1870846"/>
            </a:xfrm>
            <a:prstGeom prst="rect">
              <a:avLst/>
            </a:prstGeom>
            <a:solidFill>
              <a:srgbClr val="FFCE2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582453C-DC8C-4903-9F84-09D889061569}"/>
              </a:ext>
            </a:extLst>
          </p:cNvPr>
          <p:cNvSpPr/>
          <p:nvPr/>
        </p:nvSpPr>
        <p:spPr>
          <a:xfrm>
            <a:off x="428625" y="1299514"/>
            <a:ext cx="2019297" cy="595961"/>
          </a:xfrm>
          <a:prstGeom prst="rect">
            <a:avLst/>
          </a:prstGeom>
          <a:solidFill>
            <a:srgbClr val="FEC800"/>
          </a:solidFill>
          <a:ln w="12700">
            <a:solidFill>
              <a:srgbClr val="00206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prstClr val="white"/>
                </a:solidFill>
                <a:latin typeface="Play" panose="00000500000000000000" pitchFamily="2" charset="0"/>
              </a:rPr>
              <a:t>FUNÇÕES ITERADORAS</a:t>
            </a:r>
            <a:endParaRPr lang="pt-BR" sz="1600" dirty="0">
              <a:solidFill>
                <a:prstClr val="white"/>
              </a:solidFill>
              <a:latin typeface="Play" panose="00000500000000000000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C5787A-194B-484D-BF74-609D3B2D24DA}"/>
              </a:ext>
            </a:extLst>
          </p:cNvPr>
          <p:cNvSpPr/>
          <p:nvPr/>
        </p:nvSpPr>
        <p:spPr>
          <a:xfrm>
            <a:off x="2638422" y="1312410"/>
            <a:ext cx="6720181" cy="5959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 extrusionH="76200" contourW="38100">
            <a:bevelT w="139700" h="139700"/>
            <a:extrusionClr>
              <a:schemeClr val="accent4">
                <a:lumMod val="20000"/>
                <a:lumOff val="80000"/>
              </a:schemeClr>
            </a:extrusionClr>
            <a:contourClr>
              <a:schemeClr val="accent4">
                <a:lumMod val="20000"/>
                <a:lumOff val="80000"/>
              </a:schemeClr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Fazem algum cálculo linha por linha da tabela e depois aplicam alguma agregação (soma, máximo, mínimo, média,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etc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lay" panose="020B0000000000000000" pitchFamily="34" charset="0"/>
              </a:rPr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BB5F9C9-63A5-0899-633B-3E272261529A}"/>
              </a:ext>
            </a:extLst>
          </p:cNvPr>
          <p:cNvGrpSpPr/>
          <p:nvPr/>
        </p:nvGrpSpPr>
        <p:grpSpPr>
          <a:xfrm>
            <a:off x="146282" y="6468700"/>
            <a:ext cx="2661565" cy="219399"/>
            <a:chOff x="13459548" y="9493101"/>
            <a:chExt cx="3992348" cy="329099"/>
          </a:xfrm>
        </p:grpSpPr>
        <p:sp>
          <p:nvSpPr>
            <p:cNvPr id="13" name="TextBox 100">
              <a:extLst>
                <a:ext uri="{FF2B5EF4-FFF2-40B4-BE49-F238E27FC236}">
                  <a16:creationId xmlns:a16="http://schemas.microsoft.com/office/drawing/2014/main" id="{59EBD87C-D244-8CDE-FE19-124AA0164910}"/>
                </a:ext>
              </a:extLst>
            </p:cNvPr>
            <p:cNvSpPr txBox="1"/>
            <p:nvPr/>
          </p:nvSpPr>
          <p:spPr>
            <a:xfrm>
              <a:off x="13459548" y="9585908"/>
              <a:ext cx="3992348" cy="1571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9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66" b="0" i="0" u="none" strike="noStrike" kern="1200" cap="none" spc="23" normalizeH="0" baseline="0" noProof="0" dirty="0">
                  <a:ln>
                    <a:noFill/>
                  </a:ln>
                  <a:solidFill>
                    <a:srgbClr val="646363">
                      <a:alpha val="49804"/>
                    </a:srgbClr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rPr>
                <a:t>POWER BI IMPRESSIONADOR | HASHTAG TREINAMENTOS</a:t>
              </a:r>
            </a:p>
          </p:txBody>
        </p:sp>
        <p:pic>
          <p:nvPicPr>
            <p:cNvPr id="18" name="Picture 2" descr="Hashtag Treinamentos | Aprenda TUDO de Excel, VBA e Power BI">
              <a:extLst>
                <a:ext uri="{FF2B5EF4-FFF2-40B4-BE49-F238E27FC236}">
                  <a16:creationId xmlns:a16="http://schemas.microsoft.com/office/drawing/2014/main" id="{1C7016C9-72C8-EE49-6F3B-E29186338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1079" y="9493101"/>
              <a:ext cx="234921" cy="32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D16EE2A-C1FD-5DAD-5978-3A34A757BCB7}"/>
              </a:ext>
            </a:extLst>
          </p:cNvPr>
          <p:cNvSpPr txBox="1"/>
          <p:nvPr/>
        </p:nvSpPr>
        <p:spPr>
          <a:xfrm>
            <a:off x="1406234" y="2227332"/>
            <a:ext cx="8334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=</a:t>
            </a:r>
            <a:r>
              <a:rPr lang="pt-BR" sz="2400" dirty="0">
                <a:solidFill>
                  <a:srgbClr val="EEB500"/>
                </a:solidFill>
                <a:latin typeface="Play" panose="020B0000000000000000" pitchFamily="34" charset="0"/>
              </a:rPr>
              <a:t>MINX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( </a:t>
            </a:r>
            <a:r>
              <a:rPr lang="pt-BR" sz="2400" dirty="0" err="1">
                <a:solidFill>
                  <a:srgbClr val="002A7E"/>
                </a:solidFill>
                <a:latin typeface="Play" panose="020B0000000000000000" pitchFamily="34" charset="0"/>
              </a:rPr>
              <a:t>fVendas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,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[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Qtd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Play" panose="020B0000000000000000" pitchFamily="34" charset="0"/>
              </a:rPr>
              <a:t> Vendida] * [Preço Unitário] </a:t>
            </a:r>
            <a:r>
              <a:rPr lang="pt-BR" sz="2400" dirty="0">
                <a:solidFill>
                  <a:srgbClr val="001746"/>
                </a:solidFill>
                <a:latin typeface="Play" panose="020B0000000000000000" pitchFamily="34" charset="0"/>
              </a:rPr>
              <a:t>)</a:t>
            </a:r>
          </a:p>
          <a:p>
            <a:endParaRPr lang="pt-BR" sz="2400" dirty="0">
              <a:solidFill>
                <a:srgbClr val="EEB500"/>
              </a:solidFill>
              <a:latin typeface="Play" panose="020B0000000000000000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B64C22D-E5C0-39DF-AAD2-6FD0A159B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771" y="2952677"/>
            <a:ext cx="7023461" cy="282589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59BA72-E603-7A68-5117-7E491FD85C30}"/>
              </a:ext>
            </a:extLst>
          </p:cNvPr>
          <p:cNvSpPr txBox="1"/>
          <p:nvPr/>
        </p:nvSpPr>
        <p:spPr>
          <a:xfrm>
            <a:off x="8586121" y="5870792"/>
            <a:ext cx="172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C000"/>
                </a:solidFill>
                <a:latin typeface="Play" panose="020B0000000000000000" pitchFamily="34" charset="0"/>
              </a:rPr>
              <a:t>MÍNIMO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Play" panose="020B0000000000000000" pitchFamily="34" charset="0"/>
            </a:endParaRPr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982A078A-B4DD-AC19-8384-58D138F6337E}"/>
              </a:ext>
            </a:extLst>
          </p:cNvPr>
          <p:cNvCxnSpPr>
            <a:cxnSpLocks/>
          </p:cNvCxnSpPr>
          <p:nvPr/>
        </p:nvCxnSpPr>
        <p:spPr>
          <a:xfrm>
            <a:off x="8373661" y="5789390"/>
            <a:ext cx="0" cy="57325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62D6C0BA-D6F9-A4D1-5C7F-351C576BF11D}"/>
              </a:ext>
            </a:extLst>
          </p:cNvPr>
          <p:cNvSpPr/>
          <p:nvPr/>
        </p:nvSpPr>
        <p:spPr>
          <a:xfrm>
            <a:off x="7629418" y="3265715"/>
            <a:ext cx="1409610" cy="2512858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FDBED51-7B6E-9D00-F3F3-0A631F3D2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313" y="6383947"/>
            <a:ext cx="1327218" cy="361969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CA207C92-D020-206F-AE9F-B0DCD3C93571}"/>
              </a:ext>
            </a:extLst>
          </p:cNvPr>
          <p:cNvSpPr/>
          <p:nvPr/>
        </p:nvSpPr>
        <p:spPr>
          <a:xfrm>
            <a:off x="7677153" y="6386905"/>
            <a:ext cx="1352078" cy="359335"/>
          </a:xfrm>
          <a:prstGeom prst="rect">
            <a:avLst/>
          </a:prstGeom>
          <a:noFill/>
          <a:ln w="57150">
            <a:solidFill>
              <a:srgbClr val="002A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822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607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Big Shoulders Display</vt:lpstr>
      <vt:lpstr>Big Shoulders Display Bold</vt:lpstr>
      <vt:lpstr>Calibri</vt:lpstr>
      <vt:lpstr>Calibri Light</vt:lpstr>
      <vt:lpstr>Lato</vt:lpstr>
      <vt:lpstr>Play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Paulo</dc:creator>
  <cp:lastModifiedBy>SILENO MARCOS ARAUJO ORTIN</cp:lastModifiedBy>
  <cp:revision>1111</cp:revision>
  <dcterms:created xsi:type="dcterms:W3CDTF">2016-02-29T23:43:25Z</dcterms:created>
  <dcterms:modified xsi:type="dcterms:W3CDTF">2025-04-11T13:14:59Z</dcterms:modified>
</cp:coreProperties>
</file>